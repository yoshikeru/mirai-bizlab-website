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61520" cy="1463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DIGITAL STRATEGY PROPOSAL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77824" y="2286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週刊タイ経済　デジタル戦略 ご提案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3C97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28年の蓄積を、次の読者へ。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2926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紙の配達業から、サブスク型デジタル情報サービスへ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ご提案：SP Concierge International Co., Ltd.　／　MIRAI BizLab Co., Ltd.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2026年5月　（戦略ドラフト）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ご提案の要旨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週刊タイ経済が築いた「日本語で読むタイ経済」の信頼を守りながら、届け方・売り方・データの3点をデジタルへ。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6301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14600"/>
            <a:ext cx="363016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880360"/>
            <a:ext cx="868680" cy="86868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090672"/>
            <a:ext cx="448056" cy="448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88620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売り方を変える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8680" y="4370832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外部フォーム＋銀行振込から、サイト内で完結する即時オンライン決済へ。「今すぐ読みたい」を逃さない。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70248" y="2514600"/>
            <a:ext cx="36301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0248" y="2514600"/>
            <a:ext cx="363016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Shape 11"/>
          <p:cNvSpPr/>
          <p:nvPr/>
        </p:nvSpPr>
        <p:spPr>
          <a:xfrm>
            <a:off x="4590288" y="2880360"/>
            <a:ext cx="868680" cy="86868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090672"/>
            <a:ext cx="448056" cy="4480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0288" y="388620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資産を活かす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590288" y="4370832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1997年からの記事・統計・法令を検索できるアーカイブに。眠った蓄積を新たな価値に変える。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91856" y="2514600"/>
            <a:ext cx="36301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91856" y="2514600"/>
            <a:ext cx="363016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0" name="Shape 16"/>
          <p:cNvSpPr/>
          <p:nvPr/>
        </p:nvSpPr>
        <p:spPr>
          <a:xfrm>
            <a:off x="8311896" y="2880360"/>
            <a:ext cx="868680" cy="86868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090672"/>
            <a:ext cx="448056" cy="4480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11896" y="388620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数字を見える化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311896" y="4370832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会員データで転換率・解約率・客単価を初めて可視化。勘ではなくデータで経営判断できる。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YOUR ASSET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御社が築いてきたもの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「変える」のではなく、これまでの信頼と蓄積を、これからの読者にも確実に届く形に整える。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30168" cy="1828800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7432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3C97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1997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50392" y="3584448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年創刊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390448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タイで創刊した日本語の経済紙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0248" y="2560320"/>
            <a:ext cx="3630168" cy="1828800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4568" y="27432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3C97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28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572000" y="3584448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年の蓄積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90448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他では得られない一次情報の積み重ね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91856" y="2560320"/>
            <a:ext cx="3630168" cy="1828800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66176" y="27432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3C97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日刊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293608" y="3584448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ニュースレター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3608" y="390448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2024年5月に週刊からリニューアル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BOI認可　・　閣議決定　・　法令情報　・　経済統計　・　株式市場　・　コラム／企業紹介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78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― 日本語で読むタイ経済の、最も深い一次情報源 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THE OPPORTUNITY GAP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今、3つの「もったいない」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弱みではなく、活かしきれていない機会。資産が読者に届く前に、3つの場所で価値が逃げています。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87168"/>
            <a:ext cx="109728" cy="89611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688336"/>
            <a:ext cx="502920" cy="502920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80720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6060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読みたい人が、その場で読み始められない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00200" y="296265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申し込みは外部フォーム＋銀行振込が前提。手続きの間に「今すぐ読みたい」という熱量が冷めてしまう。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511296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511296"/>
            <a:ext cx="109728" cy="89611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" y="3712464"/>
            <a:ext cx="502920" cy="502920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83133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36301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28年分の蓄積が、眠ったまま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1600200" y="39867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過去記事・統計・法令は、検索して引き出せてこそ価値になる。今は流れて消えてしまっている。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535424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4535424"/>
            <a:ext cx="109728" cy="89611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0" name="Shape 16"/>
          <p:cNvSpPr/>
          <p:nvPr/>
        </p:nvSpPr>
        <p:spPr>
          <a:xfrm>
            <a:off x="841248" y="4736592"/>
            <a:ext cx="502920" cy="502920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85546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465429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経営の数字が、見えていない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1600200" y="501091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誰が・いつ・なぜ解約したのか手作業では追えない。打ち手の効果を測る土台がない。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THE PROPOSAL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提案の核：3つの転換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777240" cy="7772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61518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27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決済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554480" y="2148840"/>
            <a:ext cx="4160520" cy="1207008"/>
          </a:xfrm>
          <a:prstGeom prst="rect">
            <a:avLst/>
          </a:prstGeom>
          <a:solidFill>
            <a:srgbClr val="EAF0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164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現状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691640" y="253288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外部フォーム＋銀行振込＋手作業の配信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587752"/>
            <a:ext cx="411480" cy="411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46520" y="2148840"/>
            <a:ext cx="5166360" cy="1207008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2148840"/>
            <a:ext cx="91440" cy="1207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0"/>
          <p:cNvSpPr/>
          <p:nvPr/>
        </p:nvSpPr>
        <p:spPr>
          <a:xfrm>
            <a:off x="6656832" y="2258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あるべき姿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656832" y="25328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サイト内で即時オンライン決済（クレジット／PromptPay）＋ログイン自動配信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777240" cy="7772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98678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4599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資産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554480" y="3520440"/>
            <a:ext cx="4160520" cy="1207008"/>
          </a:xfrm>
          <a:prstGeom prst="rect">
            <a:avLst/>
          </a:prstGeom>
          <a:solidFill>
            <a:srgbClr val="EAF0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691640" y="3630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現状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691640" y="390448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過去記事は流れて消える</a:t>
            </a:r>
            <a:endParaRPr lang="en-US" sz="12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3959352"/>
            <a:ext cx="411480" cy="4114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446520" y="3520440"/>
            <a:ext cx="5166360" cy="1207008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46520" y="3520440"/>
            <a:ext cx="91440" cy="1207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5" name="Text 19"/>
          <p:cNvSpPr/>
          <p:nvPr/>
        </p:nvSpPr>
        <p:spPr>
          <a:xfrm>
            <a:off x="665683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あるべき姿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656832" y="39044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1997年〜の全文検索アーカイブ＝上位プラン・解約防止の武器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5166360"/>
            <a:ext cx="777240" cy="7772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5358384"/>
            <a:ext cx="393192" cy="3931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" y="5971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経営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1554480" y="4892040"/>
            <a:ext cx="4160520" cy="1207008"/>
          </a:xfrm>
          <a:prstGeom prst="rect">
            <a:avLst/>
          </a:prstGeom>
          <a:solidFill>
            <a:srgbClr val="EAF0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691640" y="5001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現状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1691640" y="527608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数字が取れず勘で判断</a:t>
            </a:r>
            <a:endParaRPr lang="en-US" sz="12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5330952"/>
            <a:ext cx="411480" cy="41148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446520" y="4892040"/>
            <a:ext cx="5166360" cy="1207008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46520" y="4892040"/>
            <a:ext cx="91440" cy="1207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6" name="Text 28"/>
          <p:cNvSpPr/>
          <p:nvPr/>
        </p:nvSpPr>
        <p:spPr>
          <a:xfrm>
            <a:off x="6656832" y="5001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あるべき姿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6656832" y="52760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会員データで転換率・解約率・客単価を可視化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REVENUE MODEL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収益モデルの多層化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単一の購読料から、無料の入口〜法人・データ販売まで。読者の段階に応じて収益機会を重ねる。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89320" y="2542032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68" y="2670048"/>
            <a:ext cx="365760" cy="36576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276148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56832" y="2596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 無料層（メーター式）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56832" y="28712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月数本まで無料。新規流入とSEOの入口。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3255264"/>
            <a:ext cx="5623560" cy="621792"/>
          </a:xfrm>
          <a:prstGeom prst="rect">
            <a:avLst/>
          </a:prstGeom>
          <a:solidFill>
            <a:srgbClr val="EAF0F8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44768" y="3383280"/>
            <a:ext cx="365760" cy="36576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347472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56832" y="3310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 個人有料購読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656832" y="3584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現行料金をベースに、即時オンライン決済で離脱を防ぐ。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9320" y="3968496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44768" y="4096512"/>
            <a:ext cx="365760" cy="36576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187952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56832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 法人プラン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656832" y="4297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複数アカウント・経費精算対応。客単価アップの本命。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89320" y="4681728"/>
            <a:ext cx="5623560" cy="621792"/>
          </a:xfrm>
          <a:prstGeom prst="rect">
            <a:avLst/>
          </a:prstGeom>
          <a:solidFill>
            <a:srgbClr val="EAF0F8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44768" y="4809744"/>
            <a:ext cx="365760" cy="36576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4901184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56832" y="4736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④ アーカイブDB（上位／アドオン）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656832" y="50109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28年の全文検索。調べもの需要を収益化＆解約防止。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989320" y="5394960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44768" y="5522976"/>
            <a:ext cx="365760" cy="36576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561441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56832" y="54498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⑤ 企業紹介・タイアップ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656832" y="57241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既存の企業紹介枠を広告商品として整備。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48640" y="2542032"/>
            <a:ext cx="5074920" cy="3474720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48640" y="2542032"/>
            <a:ext cx="507492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3" name="Text 26"/>
          <p:cNvSpPr/>
          <p:nvPr/>
        </p:nvSpPr>
        <p:spPr>
          <a:xfrm>
            <a:off x="82296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無料 → 有料 → 法人へ</a:t>
            </a:r>
            <a:endParaRPr lang="en-US" sz="2200" dirty="0"/>
          </a:p>
        </p:txBody>
      </p:sp>
      <p:sp>
        <p:nvSpPr>
          <p:cNvPr id="34" name="Text 27"/>
          <p:cNvSpPr/>
          <p:nvPr/>
        </p:nvSpPr>
        <p:spPr>
          <a:xfrm>
            <a:off x="822960" y="352044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入口を広く、出口を深く。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無料で読者を集め、価値を実感させ、個人→法人→データへと客単価を引き上げる設計。眠っていたアーカイブが「辞めない理由」になる。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PRICING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料金プラン設計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91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29184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デジタルのみ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1,200</a:t>
            </a:r>
            <a:pPr indent="0" marL="0">
              <a:buNone/>
            </a:pPr>
            <a:r>
              <a:rPr lang="en-US" sz="1300" dirty="0">
                <a:solidFill>
                  <a:srgbClr val="6B778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  バーツ / 月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2743200" cy="0"/>
          </a:xfrm>
          <a:prstGeom prst="line">
            <a:avLst/>
          </a:prstGeom>
          <a:noFill/>
          <a:ln w="12700">
            <a:solidFill>
              <a:srgbClr val="EAF0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新規獲得の主力。一番安い入口で量を取る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965960"/>
            <a:ext cx="3291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1965960"/>
            <a:ext cx="329184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2139696"/>
            <a:ext cx="1051560" cy="329184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1579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おとり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紙のみ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1,400</a:t>
            </a:r>
            <a:pPr indent="0" marL="0">
              <a:buNone/>
            </a:pPr>
            <a:r>
              <a:rPr lang="en-US" sz="1300" dirty="0">
                <a:solidFill>
                  <a:srgbClr val="6B778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  バーツ / 月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4389120" y="3520440"/>
            <a:ext cx="2743200" cy="0"/>
          </a:xfrm>
          <a:prstGeom prst="line">
            <a:avLst/>
          </a:prstGeom>
          <a:noFill/>
          <a:ln w="12700">
            <a:solidFill>
              <a:srgbClr val="EAF0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あえて割高に。下の束を“お得”に見せるおとり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1965960"/>
            <a:ext cx="3291840" cy="2286000"/>
          </a:xfrm>
          <a:prstGeom prst="rect">
            <a:avLst/>
          </a:prstGeom>
          <a:solidFill>
            <a:srgbClr val="16284B"/>
          </a:solidFill>
          <a:ln w="19050">
            <a:solidFill>
              <a:srgbClr val="C9A24B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1965960"/>
            <a:ext cx="329184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38360" y="2139696"/>
            <a:ext cx="1051560" cy="32918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/>
          <p:nvPr/>
        </p:nvSpPr>
        <p:spPr>
          <a:xfrm>
            <a:off x="9738360" y="21579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おすすめ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5528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紙 ＋ デジタル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5528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C97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1,500</a:t>
            </a:r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  バーツ / 月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7955280" y="3520440"/>
            <a:ext cx="2743200" cy="0"/>
          </a:xfrm>
          <a:prstGeom prst="line">
            <a:avLst/>
          </a:prstGeom>
          <a:noFill/>
          <a:ln w="12700">
            <a:solidFill>
              <a:srgbClr val="3A55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紙だけ＋100Bで両方。迷わず選ばれる本命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3291840" cy="1234440"/>
          </a:xfrm>
          <a:prstGeom prst="rect">
            <a:avLst/>
          </a:prstGeom>
          <a:solidFill>
            <a:srgbClr val="EAF0F8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プロ（個人上位）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4919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2,500</a:t>
            </a:r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 バーツ/月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777240" y="5394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デジタル＋28年アーカイブ全文検索＋速報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4480560"/>
            <a:ext cx="3291840" cy="1234440"/>
          </a:xfrm>
          <a:prstGeom prst="rect">
            <a:avLst/>
          </a:prstGeom>
          <a:solidFill>
            <a:srgbClr val="EAF0F8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法人ベーシック（5ID）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343400" y="4919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6,000〜</a:t>
            </a:r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 バーツ/月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4343400" y="5394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全機能＋複数アカウント＋請求書対応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4480560"/>
            <a:ext cx="3291840" cy="1234440"/>
          </a:xfrm>
          <a:prstGeom prst="rect">
            <a:avLst/>
          </a:prstGeom>
          <a:solidFill>
            <a:srgbClr val="EAF0F8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法人プロ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909560" y="4919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12,000〜</a:t>
            </a:r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 バーツ/月</a:t>
            </a:r>
            <a:endParaRPr lang="en-US" sz="2300" dirty="0"/>
          </a:p>
        </p:txBody>
      </p:sp>
      <p:sp>
        <p:nvSpPr>
          <p:cNvPr id="38" name="Text 36"/>
          <p:cNvSpPr/>
          <p:nvPr/>
        </p:nvSpPr>
        <p:spPr>
          <a:xfrm>
            <a:off x="7909560" y="5394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＋API/書き出し＋優先サポート（アンカー）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58521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＋ 月3本まで無料（メーター式）　／　初回14日無料トライアル　／　年払いは約2ヶ月分お得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WHY THESE NUMBERS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価格の根拠：行動経済学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13432"/>
            <a:ext cx="548640" cy="5486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50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おとり効果（Decoy）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24963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「紙だけ」を割高に置くと、Economistの実験では84%が紙+デジタルを選択（おとり無しでは32%）。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4406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313432"/>
            <a:ext cx="548640" cy="5486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505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松竹梅・中央配置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78040" y="24963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3段階＋本命を強調すると、最も収益性の高い層へ自然に誘導できる。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54406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685032"/>
            <a:ext cx="548640" cy="5486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221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バンドルで離脱激減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54480" y="38679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束ねると解約率40%減・LTV約60%増（平均26ヶ月→44ヶ月）。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3337560"/>
            <a:ext cx="54406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3685032"/>
            <a:ext cx="548640" cy="5486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221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年払いで安定収益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178040" y="38679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年払いは月払いより収益50〜60%増・早期解約を防ぐ。割引は15〜17%が定石。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8640" y="4983480"/>
            <a:ext cx="109728" cy="9144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NNA比：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NNAは1ID月約5,000B。法人は1席あたり約1,200B〜＝価格1/4で同等の深い一次情報。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既存購読者：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当面は現行価格で据え置き（グランドファザリング）、新価格は新規から適用。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実行ロードマップ（3フェーズ）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107692" y="244144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2107692" y="247802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収益基盤のデジタル化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会員登録／即時オンライン決済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メーター式ペイウォール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PDFのログイン自動配信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413248"/>
            <a:ext cx="3081528" cy="310896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42239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最優先・ROI最速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29300" y="244144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5829300" y="247802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70248" y="310896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44568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4568" y="356616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資産の商品化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44568" y="411480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全文検索アーカイブDB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BOI・統計・法令の構造化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法人プランの提供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44568" y="5413248"/>
            <a:ext cx="3081528" cy="310896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44568" y="542239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客単価・解約防止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50908" y="244144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3" name="Text 21"/>
          <p:cNvSpPr/>
          <p:nvPr/>
        </p:nvSpPr>
        <p:spPr>
          <a:xfrm>
            <a:off x="9550908" y="247802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991856" y="310896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66176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66176" y="356616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AIと多言語で拡張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66176" y="411480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過去記事に答えるAIチャット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英語・タイ語の自動翻訳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SEO／SNS自動配信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66176" y="5413248"/>
            <a:ext cx="3081528" cy="310896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8266176" y="542239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読者層の拡大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SAFE TRANSITION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リスクへの配慮：急がず、確実に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既存の読者と築いた信頼を損なわないことを最優先に。デジタルは「置き換え」ではなく「併走」から始めます。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40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0358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紙とデジタルの併存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30815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紙を急にやめない。既存購読者に負担をかけず、段階的に移行する。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14600"/>
            <a:ext cx="5440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898648"/>
            <a:ext cx="548640" cy="5486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358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急な有料の壁を作らない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78040" y="30815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メーター式で月数本までは従来どおり無料。読者の反発を抑える。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995928"/>
            <a:ext cx="5440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379976"/>
            <a:ext cx="548640" cy="5486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1713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197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タイ現地の決済に対応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54480" y="4562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クレジットに加えPromptPayなど、現地で使われる手段を最初から用意。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72200" y="3995928"/>
            <a:ext cx="5440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379976"/>
            <a:ext cx="548640" cy="548640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1713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197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小さく始めて検証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178040" y="4562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一気に作らず、効果を測りながら段階的に投資判断できる進め方。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UI / DX BENCHMARK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参考にすべきデジタル体験（画面別）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91440" cy="1143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221992"/>
            <a:ext cx="530352" cy="530352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50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読む　</a:t>
            </a:r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日経電子版・Axios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487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日本語の組版＋要点を太字で先出しするブリーフ形式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920240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920240"/>
            <a:ext cx="91440" cy="1143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3" name="Shape 10"/>
          <p:cNvSpPr/>
          <p:nvPr/>
        </p:nvSpPr>
        <p:spPr>
          <a:xfrm>
            <a:off x="6428232" y="2221992"/>
            <a:ext cx="530352" cy="530352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35000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届く　</a:t>
            </a:r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Substack / Stratechery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32320" y="2487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メール＝Web記事を一体化。ワンクリックでログイン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172968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172968"/>
            <a:ext cx="91440" cy="1143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Shape 15"/>
          <p:cNvSpPr/>
          <p:nvPr/>
        </p:nvSpPr>
        <p:spPr>
          <a:xfrm>
            <a:off x="804672" y="3474720"/>
            <a:ext cx="530352" cy="530352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60273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355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課金　</a:t>
            </a:r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The New York Times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508760" y="37398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摩擦ゼロの決済＋メーター式ペイウォール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172200" y="3172968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72200" y="3172968"/>
            <a:ext cx="91440" cy="1143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5" name="Shape 20"/>
          <p:cNvSpPr/>
          <p:nvPr/>
        </p:nvSpPr>
        <p:spPr>
          <a:xfrm>
            <a:off x="6428232" y="3474720"/>
            <a:ext cx="530352" cy="530352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60273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32320" y="3355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使い込む　</a:t>
            </a:r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Financial Times（myFT）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132320" y="37398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関心テーマをフォロー→速報アラート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4425696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48640" y="4425696"/>
            <a:ext cx="91440" cy="1143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1" name="Shape 25"/>
          <p:cNvSpPr/>
          <p:nvPr/>
        </p:nvSpPr>
        <p:spPr>
          <a:xfrm>
            <a:off x="804672" y="4727448"/>
            <a:ext cx="530352" cy="530352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55464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46085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調べる　</a:t>
            </a:r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SPEEDA / Algolia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1508760" y="49926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打鍵ごとに出るインスタント全文検索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72200" y="4425696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72200" y="4425696"/>
            <a:ext cx="91440" cy="1143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7" name="Shape 30"/>
          <p:cNvSpPr/>
          <p:nvPr/>
        </p:nvSpPr>
        <p:spPr>
          <a:xfrm>
            <a:off x="6428232" y="4727448"/>
            <a:ext cx="530352" cy="530352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855464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32320" y="46085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続ける　</a:t>
            </a:r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The Information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7132320" y="49926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装飾を削いだ静かな高級感で“辞めたくない”体験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UI / DX BENCHMARK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週刊タイ経済への翻訳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まず観察すべき3媒体（日本語・ブリーフ・ニュースレター発という御社の3軸に直結）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40280"/>
            <a:ext cx="32918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日経電子版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日本語×B2B経済×ペイウォールの金字塔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0" y="224028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2240280"/>
            <a:ext cx="32918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Axios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多忙な経営層向け“30秒で読める”日刊ブリーフ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224028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0" y="2240280"/>
            <a:ext cx="32918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93699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5820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Substack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552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メール購読とWebアーカイブの一体運営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064240" cy="1965960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40480"/>
            <a:ext cx="11064240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御社の商品に翻訳すると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5262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読む：日経の組版＋Axiosの要点先出し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届く：メール＝Web記事を一体化（ワンクリックログイン）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課金：摩擦ゼロ決済＋メーター式ペイウォール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45262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使い込む：BOI・法令などをフォロー→アラート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調べる：28年アーカイブをインスタント全文検索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続ける：静かな高級感で“辞めない”体験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FUTURE ROADMAP — APP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96926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将来構想：Webからアプリへ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ゼロから作り直さない。フェーズ1で築く“裏側”をそのまま活かし、段階的にアプリへ広げられる。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107692" y="244144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2107692" y="247802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6301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10128"/>
            <a:ext cx="566928" cy="566928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44728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33101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08760" y="35478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Webサイト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404164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フェーズ1で公開する土台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会員・決済・ペイウォール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PC・スマホで全文閲覧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5029200"/>
            <a:ext cx="3081528" cy="292608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03834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構築済み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29300" y="244144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5"/>
          <p:cNvSpPr/>
          <p:nvPr/>
        </p:nvSpPr>
        <p:spPr>
          <a:xfrm>
            <a:off x="5829300" y="247802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270248" y="3108960"/>
            <a:ext cx="36301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44568" y="3310128"/>
            <a:ext cx="566928" cy="566928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344728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30368" y="33101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230368" y="35478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PWA（アプリ風）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544568" y="404164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ホーム画面に追加できる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追加開発はほぼ不要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まず手軽にアプリ体験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44568" y="5029200"/>
            <a:ext cx="3081528" cy="292608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6" name="Text 22"/>
          <p:cNvSpPr/>
          <p:nvPr/>
        </p:nvSpPr>
        <p:spPr>
          <a:xfrm>
            <a:off x="4544568" y="503834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低コスト・短期間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9550908" y="244144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8" name="Text 24"/>
          <p:cNvSpPr/>
          <p:nvPr/>
        </p:nvSpPr>
        <p:spPr>
          <a:xfrm>
            <a:off x="9550908" y="247802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7991856" y="3108960"/>
            <a:ext cx="36301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266176" y="3310128"/>
            <a:ext cx="566928" cy="566928"/>
          </a:xfrm>
          <a:prstGeom prst="ellipse">
            <a:avLst/>
          </a:prstGeom>
          <a:solidFill>
            <a:srgbClr val="16284B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447288"/>
            <a:ext cx="292608" cy="29260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951976" y="33101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3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8951976" y="35478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ネイティブアプリ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8266176" y="404164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App Store / Google Play掲載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プッシュ通知・オフライン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303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反響を見て投資判断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266176" y="5029200"/>
            <a:ext cx="3081528" cy="292608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6" name="Text 31"/>
          <p:cNvSpPr/>
          <p:nvPr/>
        </p:nvSpPr>
        <p:spPr>
          <a:xfrm>
            <a:off x="8266176" y="503834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4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本格展開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48640" y="5577840"/>
            <a:ext cx="11064240" cy="868680"/>
          </a:xfrm>
          <a:prstGeom prst="rect">
            <a:avLst/>
          </a:prstGeom>
          <a:solidFill>
            <a:srgbClr val="16284B"/>
          </a:solidFill>
          <a:ln/>
          <a:effectLst>
            <a:outerShdw sx="100000" sy="100000" kx="0" ky="0" algn="bl" rotWithShape="0" blurRad="114300" dist="38100" dir="5400000">
              <a:srgbClr val="16284B">
                <a:alpha val="16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548640" y="5577840"/>
            <a:ext cx="109728" cy="86868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9" name="Text 34"/>
          <p:cNvSpPr/>
          <p:nvPr/>
        </p:nvSpPr>
        <p:spPr>
          <a:xfrm>
            <a:off x="91440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共通の“裏側”は1つ：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記事・会員・決済・ペイウォールを使い回し、アプリは“表”を足すだけ。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アプリの利点：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速報プッシュ通知 ／ ホーム画面常駐で習慣化（解約防止） ／ オフライン購読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× MIRAI BizLab  ｜  週刊タイ経済 デジタル戦略ご提案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WHY US ／ WHY NOW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なぜ私たちと、なぜ今か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30168" cy="3108960"/>
          </a:xfrm>
          <a:prstGeom prst="rect">
            <a:avLst/>
          </a:prstGeom>
          <a:solidFill>
            <a:srgbClr val="1F3A6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606040"/>
            <a:ext cx="868680" cy="8686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0720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6118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タイ × 日本語ビジネスの理解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現地に根ざし、御社の読者と市場を理解した上で設計できる。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70248" y="2286000"/>
            <a:ext cx="3630168" cy="3108960"/>
          </a:xfrm>
          <a:prstGeom prst="rect">
            <a:avLst/>
          </a:prstGeom>
          <a:solidFill>
            <a:srgbClr val="1F3A6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2606040"/>
            <a:ext cx="868680" cy="8686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807208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6118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戦略から実装まで一気通貫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411480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提案だけで終わらない。サイト・決済・AIまで自分たちで作り切る。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91856" y="2286000"/>
            <a:ext cx="3630168" cy="3108960"/>
          </a:xfrm>
          <a:prstGeom prst="rect">
            <a:avLst/>
          </a:prstGeom>
          <a:solidFill>
            <a:srgbClr val="1F3A6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11896" y="2606040"/>
            <a:ext cx="868680" cy="8686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80720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36118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AIエージェントによる転換点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11896" y="411480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Claude Code等のAIで、こうした構築を従来より速く・低コストに実現できる今が好機。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3C97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「過去の蓄積」と「最新のAI」が交わる、ちょうど今が動くべきタイミングです。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61520" cy="1463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77824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次の一歩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3246120" cy="2286000"/>
          </a:xfrm>
          <a:prstGeom prst="rect">
            <a:avLst/>
          </a:prstGeom>
          <a:solidFill>
            <a:srgbClr val="1F3A6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3017520"/>
            <a:ext cx="822960" cy="8229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063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現状ヒアリング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43708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購読者数・売上規模・記事数など、数字を共有いただき戦略を具体化。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2788920"/>
            <a:ext cx="3246120" cy="2286000"/>
          </a:xfrm>
          <a:prstGeom prst="rect">
            <a:avLst/>
          </a:prstGeom>
          <a:solidFill>
            <a:srgbClr val="1F3A6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3017520"/>
            <a:ext cx="822960" cy="8229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063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0916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フェーズ1の試作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43708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会員・決済・ペイウォールを小さく形にし、実現性を体感いただく。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2788920"/>
            <a:ext cx="3246120" cy="2286000"/>
          </a:xfrm>
          <a:prstGeom prst="rect">
            <a:avLst/>
          </a:prstGeom>
          <a:solidFill>
            <a:srgbClr val="1F3A6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017520"/>
            <a:ext cx="822960" cy="8229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3063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84B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2296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効果を見て拡張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0" y="43708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数字を見ながら、アーカイブ・AI・多言語へ段階的に投資判断。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まずは、御社の数字を聞かせてください。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C97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 Concierge International Co., Ltd.　／　MIRAI BizLab Co., Ltd.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週刊タイ経済 デジタル戦略 ご提案</dc:title>
  <dc:subject>PptxGenJS Presentation</dc:subject>
  <dc:creator>SP Concierge International Co., Ltd. / MIRAI BizLab Co., Ltd.</dc:creator>
  <cp:lastModifiedBy>SP Concierge International Co., Ltd. / MIRAI BizLab Co., Ltd.</cp:lastModifiedBy>
  <cp:revision>1</cp:revision>
  <dcterms:created xsi:type="dcterms:W3CDTF">2026-06-01T04:59:11Z</dcterms:created>
  <dcterms:modified xsi:type="dcterms:W3CDTF">2026-06-01T04:59:11Z</dcterms:modified>
</cp:coreProperties>
</file>